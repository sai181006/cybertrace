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d924a5c750459a" /><Relationship Type="http://schemas.openxmlformats.org/officeDocument/2006/relationships/extended-properties" Target="/docProps/app.xml" Id="R719df720d8814eb1" /><Relationship Type="http://schemas.openxmlformats.org/officeDocument/2006/relationships/officeDocument" Target="/ppt/presentation.xml" Id="Ra1d53aaf66654b35" /></Relationships>
</file>

<file path=ppt/presentation.xml><?xml version="1.0" encoding="utf-8"?>
<p:presentation xmlns:p="http://schemas.openxmlformats.org/presentationml/2006/main">
  <p:sldMasterIdLst>
    <p:sldMasterId xmlns:r="http://schemas.openxmlformats.org/officeDocument/2006/relationships" id="2147483648" r:id="Re6cb3e6180c24358"/>
  </p:sldMasterIdLst>
  <p:notesMasterIdLst>
    <p:notesMasterId xmlns:r="http://schemas.openxmlformats.org/officeDocument/2006/relationships" r:id="R1f0df507f6fe4d22"/>
  </p:notesMasterIdLst>
  <p:sldIdLst>
    <p:sldId xmlns:r="http://schemas.openxmlformats.org/officeDocument/2006/relationships" id="256" r:id="Rb39bcc40835d4711"/>
    <p:sldId xmlns:r="http://schemas.openxmlformats.org/officeDocument/2006/relationships" id="257" r:id="R056f0b631e62453a"/>
    <p:sldId xmlns:r="http://schemas.openxmlformats.org/officeDocument/2006/relationships" id="258" r:id="Rc0a14da8ccc846c9"/>
    <p:sldId xmlns:r="http://schemas.openxmlformats.org/officeDocument/2006/relationships" id="259" r:id="Rb5351cfbe981453b"/>
    <p:sldId xmlns:r="http://schemas.openxmlformats.org/officeDocument/2006/relationships" id="260" r:id="Rf58c90ef092147a6"/>
    <p:sldId xmlns:r="http://schemas.openxmlformats.org/officeDocument/2006/relationships" id="261" r:id="R6a462dc3375745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d3f8d70f2944e3" /><Relationship Type="http://schemas.openxmlformats.org/officeDocument/2006/relationships/slideMaster" Target="/ppt/slideMasters/slideMaster1.xml" Id="Re6cb3e6180c24358" /><Relationship Type="http://schemas.openxmlformats.org/officeDocument/2006/relationships/notesMaster" Target="/ppt/notesMasters/notesMaster1.xml" Id="R1f0df507f6fe4d22" /><Relationship Type="http://schemas.openxmlformats.org/officeDocument/2006/relationships/presProps" Target="/ppt/presProps.xml" Id="Rf1f2e458d5324da1" /><Relationship Type="http://schemas.openxmlformats.org/officeDocument/2006/relationships/tableStyles" Target="/ppt/tableStyles.xml" Id="R162bfc9cd5e1447b" /><Relationship Type="http://schemas.openxmlformats.org/officeDocument/2006/relationships/slide" Target="/ppt/slides/slide1.xml" Id="Rb39bcc40835d4711" /><Relationship Type="http://schemas.openxmlformats.org/officeDocument/2006/relationships/slide" Target="/ppt/slides/slide2.xml" Id="R056f0b631e62453a" /><Relationship Type="http://schemas.openxmlformats.org/officeDocument/2006/relationships/slide" Target="/ppt/slides/slide3.xml" Id="Rc0a14da8ccc846c9" /><Relationship Type="http://schemas.openxmlformats.org/officeDocument/2006/relationships/slide" Target="/ppt/slides/slide4.xml" Id="Rb5351cfbe981453b" /><Relationship Type="http://schemas.openxmlformats.org/officeDocument/2006/relationships/slide" Target="/ppt/slides/slide5.xml" Id="Rf58c90ef092147a6" /><Relationship Type="http://schemas.openxmlformats.org/officeDocument/2006/relationships/slide" Target="/ppt/slides/slide6.xml" Id="R6a462dc3375745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061e54ad5a4d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a3ab7f46a4435f" /><Relationship Type="http://schemas.openxmlformats.org/officeDocument/2006/relationships/notesMaster" Target="/ppt/notesMasters/notesMaster1.xml" Id="R9cae7121951a48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b6a57ba1514afa" /><Relationship Type="http://schemas.openxmlformats.org/officeDocument/2006/relationships/notesMaster" Target="/ppt/notesMasters/notesMaster1.xml" Id="R7094145ec32b4f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95f975ee6f4a25" /><Relationship Type="http://schemas.openxmlformats.org/officeDocument/2006/relationships/notesMaster" Target="/ppt/notesMasters/notesMaster1.xml" Id="R60e05349734747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891f1d140144bd" /><Relationship Type="http://schemas.openxmlformats.org/officeDocument/2006/relationships/notesMaster" Target="/ppt/notesMasters/notesMaster1.xml" Id="Rd86fee4e884645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541a57ea7b472c" /><Relationship Type="http://schemas.openxmlformats.org/officeDocument/2006/relationships/notesMaster" Target="/ppt/notesMasters/notesMaster1.xml" Id="Rd8c16cf891bc4b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d09ed49d164d2d" /><Relationship Type="http://schemas.openxmlformats.org/officeDocument/2006/relationships/notesMaster" Target="/ppt/notesMasters/notesMaster1.xml" Id="R07ecd8f28a3e44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CyberTrace as a local graph database lab application. The demonstration uses a pinned MITRE ATT&amp;CK subset and labelled synthetic scenario data. Source: CyberTrace docs/final-report.md.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source manifest and explain the separation. ATT&amp;CK Enterprise v19.2 release: https://github.com/mitre-attack/attack-stix-data/releases/tag/v19.2. MITRE terms: https://attack.mitre.org/resources/legal-and-branding/terms-of-use/. Synthetic data is generated locally with seed 302.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seven labels, six relationship type names and nine allowed label patterns. The sixth relationship name AFFECTS occurs only in synthetic scenarios. Seven uniqueness constraints and six explicit search indexes are verified by scripts/verify_database.py.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demonstration order: sign in, dashboard, search APT28, graph explorer with G0007, synthetic CRUD, multi-hop investigation, path and PageRank, sign out. Real records are read-only. User manual: docs/user-manual.md.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Shortest path is bounded to six hops and treats links as traversable in either direction while returning stored direction. PageRank follows directed links with damping 0.85. Real-only scope excludes synthetic nodes and links. These are graph topology tools, not threat scoring. Implementation: backend/analytics.py.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python -m scripts.verify_final. Observed on 11 October 2026: 27 automated tests passed, 159 nodes, 1116 relationships, 10 named investigations, CRUD, real-data guard, shortest path, PageRank. Limitations: selected ATT&amp;CK subset, synthetic scenario links, local-only authentication and development server. Evidence: docs/final-verification.md.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8bd041a6354f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4d9aea547944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8387100671b45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606f58a4424e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6dddba2f24d48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8b6d0502904f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BB5D13-4B5A-4C72-81A3-6159B1EBB79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3401655-AF59-4CED-AB8B-68E01369ADA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DBA47B-FB64-43B2-B92D-D27809AC9EE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9494CA-A214-45C9-8D43-E2DE5938E4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8DBC198-7542-4B12-9A03-59E9E8C7ED9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C517E6-DE8B-4D00-8A91-D3A1A50959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FAA45E-8ABB-4DA8-827B-F5D156D287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F6BC38F-86C5-4FF9-BC77-5FA421B6E2F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C3D3E2-5FCE-44A3-976D-0AA3CDD160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A1706C-83F6-4191-958F-D6243541E3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14937ab1614b5c" /><Relationship Type="http://schemas.openxmlformats.org/officeDocument/2006/relationships/slideLayout" Target="/ppt/slideLayouts/slideLayout1.xml" Id="R387bf8d8e6804430" /><Relationship Type="http://schemas.openxmlformats.org/officeDocument/2006/relationships/slideLayout" Target="/ppt/slideLayouts/slideLayout2.xml" Id="R169d298d4f0946e5" /><Relationship Type="http://schemas.openxmlformats.org/officeDocument/2006/relationships/slideLayout" Target="/ppt/slideLayouts/slideLayout3.xml" Id="R45c7cb4a4ce64977" /><Relationship Type="http://schemas.openxmlformats.org/officeDocument/2006/relationships/slideLayout" Target="/ppt/slideLayouts/slideLayout4.xml" Id="R7ad6cd1a72104ed9" /><Relationship Type="http://schemas.openxmlformats.org/officeDocument/2006/relationships/slideLayout" Target="/ppt/slideLayouts/slideLayout5.xml" Id="R1a8921ec11bb44d4" /><Relationship Type="http://schemas.openxmlformats.org/officeDocument/2006/relationships/slideLayout" Target="/ppt/slideLayouts/slideLayout6.xml" Id="R1a29b1c977e542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7bf8d8e6804430"/>
    <p:sldLayoutId xmlns:r="http://schemas.openxmlformats.org/officeDocument/2006/relationships" id="2147483650" r:id="R169d298d4f0946e5"/>
    <p:sldLayoutId xmlns:r="http://schemas.openxmlformats.org/officeDocument/2006/relationships" id="2147483651" r:id="R45c7cb4a4ce64977"/>
    <p:sldLayoutId xmlns:r="http://schemas.openxmlformats.org/officeDocument/2006/relationships" id="2147483652" r:id="R7ad6cd1a72104ed9"/>
    <p:sldLayoutId xmlns:r="http://schemas.openxmlformats.org/officeDocument/2006/relationships" id="2147483653" r:id="R1a8921ec11bb44d4"/>
    <p:sldLayoutId xmlns:r="http://schemas.openxmlformats.org/officeDocument/2006/relationships" id="2147483654" r:id="R1a29b1c977e542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ce62d386534cc4" /><Relationship Type="http://schemas.openxmlformats.org/officeDocument/2006/relationships/notesSlide" Target="/ppt/notesSlides/notesSlide1.xml" Id="Rfd6a725e968f42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d43f2e76b8487f" /><Relationship Type="http://schemas.openxmlformats.org/officeDocument/2006/relationships/notesSlide" Target="/ppt/notesSlides/notesSlide2.xml" Id="R1cb0baaa10ec4f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29f6c6121a842ae" /><Relationship Type="http://schemas.openxmlformats.org/officeDocument/2006/relationships/notesSlide" Target="/ppt/notesSlides/notesSlide3.xml" Id="R5d9dace53db741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2f31a9938ea4dec" /><Relationship Type="http://schemas.openxmlformats.org/officeDocument/2006/relationships/notesSlide" Target="/ppt/notesSlides/notesSlide4.xml" Id="R039aefb1845d40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7f9501e1b8041e7" /><Relationship Type="http://schemas.openxmlformats.org/officeDocument/2006/relationships/notesSlide" Target="/ppt/notesSlides/notesSlide5.xml" Id="Rfcdda65cb1c441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ab3d6eb0634451" /><Relationship Type="http://schemas.openxmlformats.org/officeDocument/2006/relationships/notesSlide" Target="/ppt/notesSlides/notesSlide6.xml" Id="R5c2e0638aa544d49" /></Relationships>
</file>

<file path=ppt/slides/slide1.xml><?xml version="1.0" encoding="utf-8"?>
<p:sld xmlns:p="http://schemas.openxmlformats.org/presentationml/2006/main">
  <p:cSld>
    <p:bg>
      <p:bgPr>
        <a:solidFill xmlns:a="http://schemas.openxmlformats.org/drawingml/2006/main">
          <a:srgbClr val="F6FAFB"/>
        </a:solidFill>
      </p:bgPr>
    </p:bg>
    <p:spTree>
      <p:nvGrpSpPr>
        <p:cNvPr id="1" name=""/>
        <p:cNvGrpSpPr/>
        <p:nvPr/>
      </p:nvGrpSpPr>
      <p:grpSpPr>
        <a:xfrm xmlns:a="http://schemas.openxmlformats.org/drawingml/2006/main"/>
      </p:grpSpPr>
      <p:sp>
        <p:nvSpPr>
          <p:cNvPr id="4" name="cover-title">
            <a:extLst xmlns:a="http://schemas.openxmlformats.org/drawingml/2006/main">
              <a:ext uri="{FF2B5EF4-FFF2-40B4-BE49-F238E27FC236}">
                <a16:creationId xmlns:a16="http://schemas.microsoft.com/office/drawing/2014/main" id="{06EB62FE-7F71-4367-86C5-693D17746246}"/>
              </a:ext>
            </a:extLst>
          </p:cNvPr>
          <p:cNvSpPr>
            <a:spLocks xmlns:a="http://schemas.openxmlformats.org/drawingml/2006/main" noGrp="1"/>
          </p:cNvSpPr>
          <p:nvPr/>
        </p:nvSpPr>
        <p:spPr>
          <a:xfrm xmlns:a="http://schemas.openxmlformats.org/drawingml/2006/main">
            <a:off x="685800" y="1685925"/>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950" b="1">
                <a:solidFill>
                  <a:srgbClr val="102B3F"/>
                </a:solidFill>
              </a:defRPr>
            </a:defPPr>
          </a:lstStyle>
          <a:p xmlns:a="http://schemas.openxmlformats.org/drawingml/2006/main">
            <a:pPr>
              <a:defRPr sz="4950" b="1">
                <a:solidFill>
                  <a:srgbClr val="102B3F"/>
                </a:solidFill>
              </a:defRPr>
            </a:pPr>
            <a:r>
              <a:rPr sz="4950" b="1">
                <a:solidFill>
                  <a:srgbClr val="102B3F"/>
                </a:solidFill>
              </a:rPr>
              <a:t>CyberTrace</a:t>
            </a:r>
          </a:p>
        </p:txBody>
      </p:sp>
      <p:sp>
        <p:nvSpPr>
          <p:cNvPr id="2" name="cover-subtitle">
            <a:extLst xmlns:a="http://schemas.openxmlformats.org/drawingml/2006/main">
              <a:ext uri="{FF2B5EF4-FFF2-40B4-BE49-F238E27FC236}">
                <a16:creationId xmlns:a16="http://schemas.microsoft.com/office/drawing/2014/main" id="{0E02F6AB-0DDD-43ED-BF49-4D93AF389B53}"/>
              </a:ext>
            </a:extLst>
          </p:cNvPr>
          <p:cNvSpPr>
            <a:spLocks xmlns:a="http://schemas.openxmlformats.org/drawingml/2006/main" noGrp="1"/>
          </p:cNvSpPr>
          <p:nvPr/>
        </p:nvSpPr>
        <p:spPr>
          <a:xfrm xmlns:a="http://schemas.openxmlformats.org/drawingml/2006/main">
            <a:off x="742950" y="30099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087F87"/>
                </a:solidFill>
              </a:defRPr>
            </a:defPPr>
          </a:lstStyle>
          <a:p xmlns:a="http://schemas.openxmlformats.org/drawingml/2006/main">
            <a:pPr>
              <a:defRPr sz="2475" b="0">
                <a:solidFill>
                  <a:srgbClr val="087F87"/>
                </a:solidFill>
              </a:defRPr>
            </a:pPr>
            <a:r>
              <a:rPr sz="2475" b="0">
                <a:solidFill>
                  <a:srgbClr val="087F87"/>
                </a:solidFill>
              </a:rPr>
              <a:t>Neo4j threat intelligence graph</a:t>
            </a:r>
          </a:p>
        </p:txBody>
      </p:sp>
      <p:sp>
        <p:nvSpPr>
          <p:cNvPr id="3" name="cover-context">
            <a:extLst xmlns:a="http://schemas.openxmlformats.org/drawingml/2006/main">
              <a:ext uri="{FF2B5EF4-FFF2-40B4-BE49-F238E27FC236}">
                <a16:creationId xmlns:a16="http://schemas.microsoft.com/office/drawing/2014/main" id="{5A19F6A4-7D1D-4084-977E-32584D0B33A1}"/>
              </a:ext>
            </a:extLst>
          </p:cNvPr>
          <p:cNvSpPr>
            <a:spLocks xmlns:a="http://schemas.openxmlformats.org/drawingml/2006/main" noGrp="1"/>
          </p:cNvSpPr>
          <p:nvPr/>
        </p:nvSpPr>
        <p:spPr>
          <a:xfrm xmlns:a="http://schemas.openxmlformats.org/drawingml/2006/main">
            <a:off x="742950" y="405765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16576"/>
                </a:solidFill>
              </a:defRPr>
            </a:defPPr>
          </a:lstStyle>
          <a:p xmlns:a="http://schemas.openxmlformats.org/drawingml/2006/main">
            <a:pPr>
              <a:defRPr sz="1800" b="0">
                <a:solidFill>
                  <a:srgbClr val="516576"/>
                </a:solidFill>
              </a:defRPr>
            </a:pPr>
            <a:r>
              <a:rPr sz="1800" b="0">
                <a:solidFill>
                  <a:srgbClr val="516576"/>
                </a:solidFill>
              </a:rPr>
              <a:t>BCSE302P Database Systems Lab  |  Final review</a:t>
            </a:r>
          </a:p>
        </p:txBody>
      </p:sp>
    </p:spTree>
    <p:extLst>
      <p:ext uri="{BB962C8B-B14F-4D97-AF65-F5344CB8AC3E}">
        <p14:creationId xmlns:p14="http://schemas.microsoft.com/office/powerpoint/2010/main" val="568099051"/>
      </p:ext>
    </p:extLst>
  </p:cSld>
</p:sld>
</file>

<file path=ppt/slides/slide2.xml><?xml version="1.0" encoding="utf-8"?>
<p:sld xmlns:p="http://schemas.openxmlformats.org/presentationml/2006/main">
  <p:cSld>
    <p:bg>
      <p:bgPr>
        <a:solidFill xmlns:a="http://schemas.openxmlformats.org/drawingml/2006/main">
          <a:srgbClr val="F6FAFB"/>
        </a:solidFill>
      </p:bgPr>
    </p:bg>
    <p:spTree>
      <p:nvGrpSpPr>
        <p:cNvPr id="1" name=""/>
        <p:cNvGrpSpPr/>
        <p:nvPr/>
      </p:nvGrpSpPr>
      <p:grpSpPr>
        <a:xfrm xmlns:a="http://schemas.openxmlformats.org/drawingml/2006/main"/>
      </p:grpSpPr>
      <p:sp>
        <p:nvSpPr>
          <p:cNvPr id="8" name="title-2">
            <a:extLst xmlns:a="http://schemas.openxmlformats.org/drawingml/2006/main">
              <a:ext uri="{FF2B5EF4-FFF2-40B4-BE49-F238E27FC236}">
                <a16:creationId xmlns:a16="http://schemas.microsoft.com/office/drawing/2014/main" id="{9BA94DEB-EB79-46D4-83ED-F4FDDC47335F}"/>
              </a:ext>
            </a:extLst>
          </p:cNvPr>
          <p:cNvSpPr>
            <a:spLocks xmlns:a="http://schemas.openxmlformats.org/drawingml/2006/main" noGrp="1"/>
          </p:cNvSpPr>
          <p:nvPr/>
        </p:nvSpPr>
        <p:spPr>
          <a:xfrm xmlns:a="http://schemas.openxmlformats.org/drawingml/2006/main">
            <a:off x="685800" y="514350"/>
            <a:ext cx="10572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02B3F"/>
                </a:solidFill>
              </a:defRPr>
            </a:defPPr>
          </a:lstStyle>
          <a:p xmlns:a="http://schemas.openxmlformats.org/drawingml/2006/main">
            <a:pPr>
              <a:defRPr sz="2925" b="1">
                <a:solidFill>
                  <a:srgbClr val="102B3F"/>
                </a:solidFill>
              </a:defRPr>
            </a:pPr>
            <a:r>
              <a:rPr sz="2925" b="1">
                <a:solidFill>
                  <a:srgbClr val="102B3F"/>
                </a:solidFill>
              </a:rPr>
              <a:t>Data and provenance</a:t>
            </a:r>
          </a:p>
        </p:txBody>
      </p:sp>
      <p:sp>
        <p:nvSpPr>
          <p:cNvPr id="2" name="footer-2">
            <a:extLst xmlns:a="http://schemas.openxmlformats.org/drawingml/2006/main">
              <a:ext uri="{FF2B5EF4-FFF2-40B4-BE49-F238E27FC236}">
                <a16:creationId xmlns:a16="http://schemas.microsoft.com/office/drawing/2014/main" id="{6E4B370B-3C8C-490A-842D-6C88936441E2}"/>
              </a:ext>
            </a:extLst>
          </p:cNvPr>
          <p:cNvSpPr>
            <a:spLocks xmlns:a="http://schemas.openxmlformats.org/drawingml/2006/main" noGrp="1"/>
          </p:cNvSpPr>
          <p:nvPr/>
        </p:nvSpPr>
        <p:spPr>
          <a:xfrm xmlns:a="http://schemas.openxmlformats.org/drawingml/2006/main">
            <a:off x="685800" y="6296025"/>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576"/>
                </a:solidFill>
              </a:defRPr>
            </a:defPPr>
          </a:lstStyle>
          <a:p xmlns:a="http://schemas.openxmlformats.org/drawingml/2006/main">
            <a:pPr>
              <a:defRPr sz="1125" b="0">
                <a:solidFill>
                  <a:srgbClr val="516576"/>
                </a:solidFill>
              </a:defRPr>
            </a:pPr>
            <a:r>
              <a:rPr sz="1125" b="0">
                <a:solidFill>
                  <a:srgbClr val="516576"/>
                </a:solidFill>
              </a:rPr>
              <a:t>CyberTrace  |  BCSE302P  |  2</a:t>
            </a:r>
          </a:p>
        </p:txBody>
      </p:sp>
      <p:sp>
        <p:nvSpPr>
          <p:cNvPr id="3" name="large-real">
            <a:extLst xmlns:a="http://schemas.openxmlformats.org/drawingml/2006/main">
              <a:ext uri="{FF2B5EF4-FFF2-40B4-BE49-F238E27FC236}">
                <a16:creationId xmlns:a16="http://schemas.microsoft.com/office/drawing/2014/main" id="{4045363F-E9F1-4EC6-881F-5D3EBF94EA9C}"/>
              </a:ext>
            </a:extLst>
          </p:cNvPr>
          <p:cNvSpPr>
            <a:spLocks xmlns:a="http://schemas.openxmlformats.org/drawingml/2006/main" noGrp="1"/>
          </p:cNvSpPr>
          <p:nvPr/>
        </p:nvSpPr>
        <p:spPr>
          <a:xfrm xmlns:a="http://schemas.openxmlformats.org/drawingml/2006/main">
            <a:off x="762000" y="1809750"/>
            <a:ext cx="4762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087F87"/>
                </a:solidFill>
              </a:defRPr>
            </a:defPPr>
          </a:lstStyle>
          <a:p xmlns:a="http://schemas.openxmlformats.org/drawingml/2006/main">
            <a:pPr>
              <a:defRPr sz="3600" b="1">
                <a:solidFill>
                  <a:srgbClr val="087F87"/>
                </a:solidFill>
              </a:defRPr>
            </a:pPr>
            <a:r>
              <a:rPr sz="3600" b="1">
                <a:solidFill>
                  <a:srgbClr val="087F87"/>
                </a:solidFill>
              </a:rPr>
              <a:t>105 real</a:t>
            </a:r>
          </a:p>
        </p:txBody>
      </p:sp>
      <p:sp>
        <p:nvSpPr>
          <p:cNvPr id="4" name="real-caption">
            <a:extLst xmlns:a="http://schemas.openxmlformats.org/drawingml/2006/main">
              <a:ext uri="{FF2B5EF4-FFF2-40B4-BE49-F238E27FC236}">
                <a16:creationId xmlns:a16="http://schemas.microsoft.com/office/drawing/2014/main" id="{E26E732E-59B4-4EA4-B4CC-74F056EF36E6}"/>
              </a:ext>
            </a:extLst>
          </p:cNvPr>
          <p:cNvSpPr>
            <a:spLocks xmlns:a="http://schemas.openxmlformats.org/drawingml/2006/main" noGrp="1"/>
          </p:cNvSpPr>
          <p:nvPr/>
        </p:nvSpPr>
        <p:spPr>
          <a:xfrm xmlns:a="http://schemas.openxmlformats.org/drawingml/2006/main">
            <a:off x="781050" y="2628900"/>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02B3F"/>
                </a:solidFill>
              </a:defRPr>
            </a:defPPr>
          </a:lstStyle>
          <a:p xmlns:a="http://schemas.openxmlformats.org/drawingml/2006/main">
            <a:pPr>
              <a:defRPr sz="1950" b="0">
                <a:solidFill>
                  <a:srgbClr val="102B3F"/>
                </a:solidFill>
              </a:defRPr>
            </a:pPr>
            <a:r>
              <a:rPr sz="1950" b="0">
                <a:solidFill>
                  <a:srgbClr val="102B3F"/>
                </a:solidFill>
              </a:rPr>
              <a:t>ATT&amp;CK groups, software, techniques</a:t>
            </a:r>
          </a:p>
        </p:txBody>
      </p:sp>
      <p:sp>
        <p:nvSpPr>
          <p:cNvPr id="5" name="large-synth">
            <a:extLst xmlns:a="http://schemas.openxmlformats.org/drawingml/2006/main">
              <a:ext uri="{FF2B5EF4-FFF2-40B4-BE49-F238E27FC236}">
                <a16:creationId xmlns:a16="http://schemas.microsoft.com/office/drawing/2014/main" id="{FE85CB6C-7017-46C6-974D-155873A207B4}"/>
              </a:ext>
            </a:extLst>
          </p:cNvPr>
          <p:cNvSpPr>
            <a:spLocks xmlns:a="http://schemas.openxmlformats.org/drawingml/2006/main" noGrp="1"/>
          </p:cNvSpPr>
          <p:nvPr/>
        </p:nvSpPr>
        <p:spPr>
          <a:xfrm xmlns:a="http://schemas.openxmlformats.org/drawingml/2006/main">
            <a:off x="6572250" y="1809750"/>
            <a:ext cx="4762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087F87"/>
                </a:solidFill>
              </a:defRPr>
            </a:defPPr>
          </a:lstStyle>
          <a:p xmlns:a="http://schemas.openxmlformats.org/drawingml/2006/main">
            <a:pPr>
              <a:defRPr sz="3600" b="1">
                <a:solidFill>
                  <a:srgbClr val="087F87"/>
                </a:solidFill>
              </a:defRPr>
            </a:pPr>
            <a:r>
              <a:rPr sz="3600" b="1">
                <a:solidFill>
                  <a:srgbClr val="087F87"/>
                </a:solidFill>
              </a:rPr>
              <a:t>54 synthetic</a:t>
            </a:r>
          </a:p>
        </p:txBody>
      </p:sp>
      <p:sp>
        <p:nvSpPr>
          <p:cNvPr id="6" name="synth-caption">
            <a:extLst xmlns:a="http://schemas.openxmlformats.org/drawingml/2006/main">
              <a:ext uri="{FF2B5EF4-FFF2-40B4-BE49-F238E27FC236}">
                <a16:creationId xmlns:a16="http://schemas.microsoft.com/office/drawing/2014/main" id="{C8544CB0-B44D-4284-BFB1-3F9DC13DE33A}"/>
              </a:ext>
            </a:extLst>
          </p:cNvPr>
          <p:cNvSpPr>
            <a:spLocks xmlns:a="http://schemas.openxmlformats.org/drawingml/2006/main" noGrp="1"/>
          </p:cNvSpPr>
          <p:nvPr/>
        </p:nvSpPr>
        <p:spPr>
          <a:xfrm xmlns:a="http://schemas.openxmlformats.org/drawingml/2006/main">
            <a:off x="6591300" y="2628900"/>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02B3F"/>
                </a:solidFill>
              </a:defRPr>
            </a:defPPr>
          </a:lstStyle>
          <a:p xmlns:a="http://schemas.openxmlformats.org/drawingml/2006/main">
            <a:pPr>
              <a:defRPr sz="1950" b="0">
                <a:solidFill>
                  <a:srgbClr val="102B3F"/>
                </a:solidFill>
              </a:defRPr>
            </a:pPr>
            <a:r>
              <a:rPr sz="1950" b="0">
                <a:solidFill>
                  <a:srgbClr val="102B3F"/>
                </a:solidFill>
              </a:rPr>
              <a:t>Safe infrastructure and lab scenarios</a:t>
            </a:r>
          </a:p>
        </p:txBody>
      </p:sp>
      <p:sp>
        <p:nvSpPr>
          <p:cNvPr id="7" name="provenance-rule">
            <a:extLst xmlns:a="http://schemas.openxmlformats.org/drawingml/2006/main">
              <a:ext uri="{FF2B5EF4-FFF2-40B4-BE49-F238E27FC236}">
                <a16:creationId xmlns:a16="http://schemas.microsoft.com/office/drawing/2014/main" id="{0175ED19-FC63-467E-A38F-04C528E94EAB}"/>
              </a:ext>
            </a:extLst>
          </p:cNvPr>
          <p:cNvSpPr>
            <a:spLocks xmlns:a="http://schemas.openxmlformats.org/drawingml/2006/main" noGrp="1"/>
          </p:cNvSpPr>
          <p:nvPr/>
        </p:nvSpPr>
        <p:spPr>
          <a:xfrm xmlns:a="http://schemas.openxmlformats.org/drawingml/2006/main">
            <a:off x="762000" y="4295775"/>
            <a:ext cx="1047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02B3F"/>
                </a:solidFill>
              </a:defRPr>
            </a:defPPr>
          </a:lstStyle>
          <a:p xmlns:a="http://schemas.openxmlformats.org/drawingml/2006/main">
            <a:pPr>
              <a:defRPr sz="2175" b="0">
                <a:solidFill>
                  <a:srgbClr val="102B3F"/>
                </a:solidFill>
              </a:defRPr>
            </a:pPr>
            <a:r>
              <a:rPr sz="2175" b="0">
                <a:solidFill>
                  <a:srgbClr val="102B3F"/>
                </a:solidFill>
              </a:rPr>
              <a:t>Each node and relationship records its source and synthetic status.</a:t>
            </a:r>
          </a:p>
        </p:txBody>
      </p:sp>
    </p:spTree>
    <p:extLst>
      <p:ext uri="{BB962C8B-B14F-4D97-AF65-F5344CB8AC3E}">
        <p14:creationId xmlns:p14="http://schemas.microsoft.com/office/powerpoint/2010/main" val="737487674"/>
      </p:ext>
    </p:extLst>
  </p:cSld>
</p:sld>
</file>

<file path=ppt/slides/slide3.xml><?xml version="1.0" encoding="utf-8"?>
<p:sld xmlns:p="http://schemas.openxmlformats.org/presentationml/2006/main">
  <p:cSld>
    <p:bg>
      <p:bgPr>
        <a:solidFill xmlns:a="http://schemas.openxmlformats.org/drawingml/2006/main">
          <a:srgbClr val="F6FAFB"/>
        </a:solidFill>
      </p:bgPr>
    </p:bg>
    <p:spTree>
      <p:nvGrpSpPr>
        <p:cNvPr id="1" name=""/>
        <p:cNvGrpSpPr/>
        <p:nvPr/>
      </p:nvGrpSpPr>
      <p:grpSpPr>
        <a:xfrm xmlns:a="http://schemas.openxmlformats.org/drawingml/2006/main"/>
      </p:grpSpPr>
      <p:sp>
        <p:nvSpPr>
          <p:cNvPr id="8" name="title-3">
            <a:extLst xmlns:a="http://schemas.openxmlformats.org/drawingml/2006/main">
              <a:ext uri="{FF2B5EF4-FFF2-40B4-BE49-F238E27FC236}">
                <a16:creationId xmlns:a16="http://schemas.microsoft.com/office/drawing/2014/main" id="{CF39B3DB-A73D-4A06-B59E-2EF126B8CDD2}"/>
              </a:ext>
            </a:extLst>
          </p:cNvPr>
          <p:cNvSpPr>
            <a:spLocks xmlns:a="http://schemas.openxmlformats.org/drawingml/2006/main" noGrp="1"/>
          </p:cNvSpPr>
          <p:nvPr/>
        </p:nvSpPr>
        <p:spPr>
          <a:xfrm xmlns:a="http://schemas.openxmlformats.org/drawingml/2006/main">
            <a:off x="685800" y="514350"/>
            <a:ext cx="10572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02B3F"/>
                </a:solidFill>
              </a:defRPr>
            </a:defPPr>
          </a:lstStyle>
          <a:p xmlns:a="http://schemas.openxmlformats.org/drawingml/2006/main">
            <a:pPr>
              <a:defRPr sz="2925" b="1">
                <a:solidFill>
                  <a:srgbClr val="102B3F"/>
                </a:solidFill>
              </a:defRPr>
            </a:pPr>
            <a:r>
              <a:rPr sz="2925" b="1">
                <a:solidFill>
                  <a:srgbClr val="102B3F"/>
                </a:solidFill>
              </a:rPr>
              <a:t>Graph model</a:t>
            </a:r>
          </a:p>
        </p:txBody>
      </p:sp>
      <p:sp>
        <p:nvSpPr>
          <p:cNvPr id="2" name="footer-3">
            <a:extLst xmlns:a="http://schemas.openxmlformats.org/drawingml/2006/main">
              <a:ext uri="{FF2B5EF4-FFF2-40B4-BE49-F238E27FC236}">
                <a16:creationId xmlns:a16="http://schemas.microsoft.com/office/drawing/2014/main" id="{3E4E5B7A-CFA1-4DFB-ACFA-EBCD198873FA}"/>
              </a:ext>
            </a:extLst>
          </p:cNvPr>
          <p:cNvSpPr>
            <a:spLocks xmlns:a="http://schemas.openxmlformats.org/drawingml/2006/main" noGrp="1"/>
          </p:cNvSpPr>
          <p:nvPr/>
        </p:nvSpPr>
        <p:spPr>
          <a:xfrm xmlns:a="http://schemas.openxmlformats.org/drawingml/2006/main">
            <a:off x="685800" y="6296025"/>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576"/>
                </a:solidFill>
              </a:defRPr>
            </a:defPPr>
          </a:lstStyle>
          <a:p xmlns:a="http://schemas.openxmlformats.org/drawingml/2006/main">
            <a:pPr>
              <a:defRPr sz="1125" b="0">
                <a:solidFill>
                  <a:srgbClr val="516576"/>
                </a:solidFill>
              </a:defRPr>
            </a:pPr>
            <a:r>
              <a:rPr sz="1125" b="0">
                <a:solidFill>
                  <a:srgbClr val="516576"/>
                </a:solidFill>
              </a:rPr>
              <a:t>CyberTrace  |  BCSE302P  |  3</a:t>
            </a:r>
          </a:p>
        </p:txBody>
      </p:sp>
      <p:sp>
        <p:nvSpPr>
          <p:cNvPr id="3" name="labels-heading">
            <a:extLst xmlns:a="http://schemas.openxmlformats.org/drawingml/2006/main">
              <a:ext uri="{FF2B5EF4-FFF2-40B4-BE49-F238E27FC236}">
                <a16:creationId xmlns:a16="http://schemas.microsoft.com/office/drawing/2014/main" id="{FE9FC667-0B6D-4A64-8E37-2FE89B3DDB87}"/>
              </a:ext>
            </a:extLst>
          </p:cNvPr>
          <p:cNvSpPr>
            <a:spLocks xmlns:a="http://schemas.openxmlformats.org/drawingml/2006/main" noGrp="1"/>
          </p:cNvSpPr>
          <p:nvPr/>
        </p:nvSpPr>
        <p:spPr>
          <a:xfrm xmlns:a="http://schemas.openxmlformats.org/drawingml/2006/main">
            <a:off x="762000" y="1676400"/>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F87"/>
                </a:solidFill>
              </a:defRPr>
            </a:defPPr>
          </a:lstStyle>
          <a:p xmlns:a="http://schemas.openxmlformats.org/drawingml/2006/main">
            <a:pPr>
              <a:defRPr sz="2250" b="1">
                <a:solidFill>
                  <a:srgbClr val="087F87"/>
                </a:solidFill>
              </a:defRPr>
            </a:pPr>
            <a:r>
              <a:rPr sz="2250" b="1">
                <a:solidFill>
                  <a:srgbClr val="087F87"/>
                </a:solidFill>
              </a:rPr>
              <a:t>Seven node labels</a:t>
            </a:r>
          </a:p>
        </p:txBody>
      </p:sp>
      <p:sp>
        <p:nvSpPr>
          <p:cNvPr id="4" name="labels">
            <a:extLst xmlns:a="http://schemas.openxmlformats.org/drawingml/2006/main">
              <a:ext uri="{FF2B5EF4-FFF2-40B4-BE49-F238E27FC236}">
                <a16:creationId xmlns:a16="http://schemas.microsoft.com/office/drawing/2014/main" id="{D7E2CB6A-F448-4B11-BF3E-01A951B6E14E}"/>
              </a:ext>
            </a:extLst>
          </p:cNvPr>
          <p:cNvSpPr>
            <a:spLocks xmlns:a="http://schemas.openxmlformats.org/drawingml/2006/main" noGrp="1"/>
          </p:cNvSpPr>
          <p:nvPr/>
        </p:nvSpPr>
        <p:spPr>
          <a:xfrm xmlns:a="http://schemas.openxmlformats.org/drawingml/2006/main">
            <a:off x="762000" y="2333625"/>
            <a:ext cx="4857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B3F"/>
                </a:solidFill>
              </a:defRPr>
            </a:defPPr>
          </a:lstStyle>
          <a:p xmlns:a="http://schemas.openxmlformats.org/drawingml/2006/main">
            <a:pPr>
              <a:defRPr sz="2025" b="0">
                <a:solidFill>
                  <a:srgbClr val="102B3F"/>
                </a:solidFill>
              </a:defRPr>
            </a:pPr>
            <a:r>
              <a:rPr sz="2025" b="0">
                <a:solidFill>
                  <a:srgbClr val="102B3F"/>
                </a:solidFill>
              </a:rPr>
              <a:t>ThreatActor, Malware, Technique,</a:t>
            </a:r>
          </a:p>
          <a:p xmlns:a="http://schemas.openxmlformats.org/drawingml/2006/main">
            <a:pPr>
              <a:defRPr sz="2025" b="0">
                <a:solidFill>
                  <a:srgbClr val="102B3F"/>
                </a:solidFill>
              </a:defRPr>
            </a:pPr>
            <a:r>
              <a:rPr sz="2025" b="0">
                <a:solidFill>
                  <a:srgbClr val="102B3F"/>
                </a:solidFill>
              </a:rPr>
              <a:t>Vulnerability, IP, Domain, Organization</a:t>
            </a:r>
          </a:p>
        </p:txBody>
      </p:sp>
      <p:sp>
        <p:nvSpPr>
          <p:cNvPr id="5" name="rels-heading">
            <a:extLst xmlns:a="http://schemas.openxmlformats.org/drawingml/2006/main">
              <a:ext uri="{FF2B5EF4-FFF2-40B4-BE49-F238E27FC236}">
                <a16:creationId xmlns:a16="http://schemas.microsoft.com/office/drawing/2014/main" id="{7196AC06-0AA9-4ECF-915C-70398F9ACA53}"/>
              </a:ext>
            </a:extLst>
          </p:cNvPr>
          <p:cNvSpPr>
            <a:spLocks xmlns:a="http://schemas.openxmlformats.org/drawingml/2006/main" noGrp="1"/>
          </p:cNvSpPr>
          <p:nvPr/>
        </p:nvSpPr>
        <p:spPr>
          <a:xfrm xmlns:a="http://schemas.openxmlformats.org/drawingml/2006/main">
            <a:off x="6286500" y="1676400"/>
            <a:ext cx="5095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87F87"/>
                </a:solidFill>
              </a:defRPr>
            </a:defPPr>
          </a:lstStyle>
          <a:p xmlns:a="http://schemas.openxmlformats.org/drawingml/2006/main">
            <a:pPr>
              <a:defRPr sz="2250" b="1">
                <a:solidFill>
                  <a:srgbClr val="087F87"/>
                </a:solidFill>
              </a:defRPr>
            </a:pPr>
            <a:r>
              <a:rPr sz="2250" b="1">
                <a:solidFill>
                  <a:srgbClr val="087F87"/>
                </a:solidFill>
              </a:rPr>
              <a:t>Six relationship types</a:t>
            </a:r>
          </a:p>
        </p:txBody>
      </p:sp>
      <p:sp>
        <p:nvSpPr>
          <p:cNvPr id="6" name="rels">
            <a:extLst xmlns:a="http://schemas.openxmlformats.org/drawingml/2006/main">
              <a:ext uri="{FF2B5EF4-FFF2-40B4-BE49-F238E27FC236}">
                <a16:creationId xmlns:a16="http://schemas.microsoft.com/office/drawing/2014/main" id="{35D2B18E-F629-40D6-A588-78FA0868029D}"/>
              </a:ext>
            </a:extLst>
          </p:cNvPr>
          <p:cNvSpPr>
            <a:spLocks xmlns:a="http://schemas.openxmlformats.org/drawingml/2006/main" noGrp="1"/>
          </p:cNvSpPr>
          <p:nvPr/>
        </p:nvSpPr>
        <p:spPr>
          <a:xfrm xmlns:a="http://schemas.openxmlformats.org/drawingml/2006/main">
            <a:off x="6286500" y="2333625"/>
            <a:ext cx="509587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B3F"/>
                </a:solidFill>
              </a:defRPr>
            </a:defPPr>
          </a:lstStyle>
          <a:p xmlns:a="http://schemas.openxmlformats.org/drawingml/2006/main">
            <a:pPr>
              <a:defRPr sz="2025" b="0">
                <a:solidFill>
                  <a:srgbClr val="102B3F"/>
                </a:solidFill>
              </a:defRPr>
            </a:pPr>
            <a:r>
              <a:rPr sz="2025" b="0">
                <a:solidFill>
                  <a:srgbClr val="102B3F"/>
                </a:solidFill>
              </a:rPr>
              <a:t>USES, TARGETS, EXPLOITS,</a:t>
            </a:r>
          </a:p>
          <a:p xmlns:a="http://schemas.openxmlformats.org/drawingml/2006/main">
            <a:pPr>
              <a:defRPr sz="2025" b="0">
                <a:solidFill>
                  <a:srgbClr val="102B3F"/>
                </a:solidFill>
              </a:defRPr>
            </a:pPr>
            <a:r>
              <a:rPr sz="2025" b="0">
                <a:solidFill>
                  <a:srgbClr val="102B3F"/>
                </a:solidFill>
              </a:rPr>
              <a:t>COMMUNICATES_WITH, RESOLVES_TO, AFFECTS</a:t>
            </a:r>
          </a:p>
        </p:txBody>
      </p:sp>
      <p:sp>
        <p:nvSpPr>
          <p:cNvPr id="7" name="schema-foot">
            <a:extLst xmlns:a="http://schemas.openxmlformats.org/drawingml/2006/main">
              <a:ext uri="{FF2B5EF4-FFF2-40B4-BE49-F238E27FC236}">
                <a16:creationId xmlns:a16="http://schemas.microsoft.com/office/drawing/2014/main" id="{1B80BCF1-3C78-4C32-BB13-BAC39F2C6E62}"/>
              </a:ext>
            </a:extLst>
          </p:cNvPr>
          <p:cNvSpPr>
            <a:spLocks xmlns:a="http://schemas.openxmlformats.org/drawingml/2006/main" noGrp="1"/>
          </p:cNvSpPr>
          <p:nvPr/>
        </p:nvSpPr>
        <p:spPr>
          <a:xfrm xmlns:a="http://schemas.openxmlformats.org/drawingml/2006/main">
            <a:off x="762000" y="499110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516576"/>
                </a:solidFill>
              </a:defRPr>
            </a:defPPr>
          </a:lstStyle>
          <a:p xmlns:a="http://schemas.openxmlformats.org/drawingml/2006/main">
            <a:pPr>
              <a:defRPr sz="1875" b="0">
                <a:solidFill>
                  <a:srgbClr val="516576"/>
                </a:solidFill>
              </a:defRPr>
            </a:pPr>
            <a:r>
              <a:rPr sz="1875" b="0">
                <a:solidFill>
                  <a:srgbClr val="516576"/>
                </a:solidFill>
              </a:rPr>
              <a:t>Stable IDs: 7 uniqueness constraints  |  Search: 6 explicit indexes</a:t>
            </a:r>
          </a:p>
        </p:txBody>
      </p:sp>
    </p:spTree>
    <p:extLst>
      <p:ext uri="{BB962C8B-B14F-4D97-AF65-F5344CB8AC3E}">
        <p14:creationId xmlns:p14="http://schemas.microsoft.com/office/powerpoint/2010/main" val="191154178"/>
      </p:ext>
    </p:extLst>
  </p:cSld>
</p:sld>
</file>

<file path=ppt/slides/slide4.xml><?xml version="1.0" encoding="utf-8"?>
<p:sld xmlns:p="http://schemas.openxmlformats.org/presentationml/2006/main">
  <p:cSld>
    <p:bg>
      <p:bgPr>
        <a:solidFill xmlns:a="http://schemas.openxmlformats.org/drawingml/2006/main">
          <a:srgbClr val="F6FAFB"/>
        </a:solidFill>
      </p:bgPr>
    </p:bg>
    <p:spTree>
      <p:nvGrpSpPr>
        <p:cNvPr id="1" name=""/>
        <p:cNvGrpSpPr/>
        <p:nvPr/>
      </p:nvGrpSpPr>
      <p:grpSpPr>
        <a:xfrm xmlns:a="http://schemas.openxmlformats.org/drawingml/2006/main"/>
      </p:grpSpPr>
      <p:sp>
        <p:nvSpPr>
          <p:cNvPr id="8" name="title-4">
            <a:extLst xmlns:a="http://schemas.openxmlformats.org/drawingml/2006/main">
              <a:ext uri="{FF2B5EF4-FFF2-40B4-BE49-F238E27FC236}">
                <a16:creationId xmlns:a16="http://schemas.microsoft.com/office/drawing/2014/main" id="{CA975FB1-EE0F-4F78-9655-F8A99850C812}"/>
              </a:ext>
            </a:extLst>
          </p:cNvPr>
          <p:cNvSpPr>
            <a:spLocks xmlns:a="http://schemas.openxmlformats.org/drawingml/2006/main" noGrp="1"/>
          </p:cNvSpPr>
          <p:nvPr/>
        </p:nvSpPr>
        <p:spPr>
          <a:xfrm xmlns:a="http://schemas.openxmlformats.org/drawingml/2006/main">
            <a:off x="685800" y="514350"/>
            <a:ext cx="10572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02B3F"/>
                </a:solidFill>
              </a:defRPr>
            </a:defPPr>
          </a:lstStyle>
          <a:p xmlns:a="http://schemas.openxmlformats.org/drawingml/2006/main">
            <a:pPr>
              <a:defRPr sz="2925" b="1">
                <a:solidFill>
                  <a:srgbClr val="102B3F"/>
                </a:solidFill>
              </a:defRPr>
            </a:pPr>
            <a:r>
              <a:rPr sz="2925" b="1">
                <a:solidFill>
                  <a:srgbClr val="102B3F"/>
                </a:solidFill>
              </a:rPr>
              <a:t>Application workflow</a:t>
            </a:r>
          </a:p>
        </p:txBody>
      </p:sp>
      <p:sp>
        <p:nvSpPr>
          <p:cNvPr id="2" name="footer-4">
            <a:extLst xmlns:a="http://schemas.openxmlformats.org/drawingml/2006/main">
              <a:ext uri="{FF2B5EF4-FFF2-40B4-BE49-F238E27FC236}">
                <a16:creationId xmlns:a16="http://schemas.microsoft.com/office/drawing/2014/main" id="{B55AC66B-A565-4051-A5E3-A65F75E7306F}"/>
              </a:ext>
            </a:extLst>
          </p:cNvPr>
          <p:cNvSpPr>
            <a:spLocks xmlns:a="http://schemas.openxmlformats.org/drawingml/2006/main" noGrp="1"/>
          </p:cNvSpPr>
          <p:nvPr/>
        </p:nvSpPr>
        <p:spPr>
          <a:xfrm xmlns:a="http://schemas.openxmlformats.org/drawingml/2006/main">
            <a:off x="685800" y="6296025"/>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576"/>
                </a:solidFill>
              </a:defRPr>
            </a:defPPr>
          </a:lstStyle>
          <a:p xmlns:a="http://schemas.openxmlformats.org/drawingml/2006/main">
            <a:pPr>
              <a:defRPr sz="1125" b="0">
                <a:solidFill>
                  <a:srgbClr val="516576"/>
                </a:solidFill>
              </a:defRPr>
            </a:pPr>
            <a:r>
              <a:rPr sz="1125" b="0">
                <a:solidFill>
                  <a:srgbClr val="516576"/>
                </a:solidFill>
              </a:rPr>
              <a:t>CyberTrace  |  BCSE302P  |  4</a:t>
            </a:r>
          </a:p>
        </p:txBody>
      </p:sp>
      <p:sp>
        <p:nvSpPr>
          <p:cNvPr id="3" name="line-0">
            <a:extLst xmlns:a="http://schemas.openxmlformats.org/drawingml/2006/main">
              <a:ext uri="{FF2B5EF4-FFF2-40B4-BE49-F238E27FC236}">
                <a16:creationId xmlns:a16="http://schemas.microsoft.com/office/drawing/2014/main" id="{3C490E28-47E3-4C57-BC1B-1C296D78E810}"/>
              </a:ext>
            </a:extLst>
          </p:cNvPr>
          <p:cNvSpPr>
            <a:spLocks xmlns:a="http://schemas.openxmlformats.org/drawingml/2006/main" noGrp="1"/>
          </p:cNvSpPr>
          <p:nvPr/>
        </p:nvSpPr>
        <p:spPr>
          <a:xfrm xmlns:a="http://schemas.openxmlformats.org/drawingml/2006/main">
            <a:off x="762000" y="1590675"/>
            <a:ext cx="10429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B3F"/>
                </a:solidFill>
              </a:defRPr>
            </a:defPPr>
          </a:lstStyle>
          <a:p xmlns:a="http://schemas.openxmlformats.org/drawingml/2006/main">
            <a:pPr>
              <a:defRPr sz="2025" b="0">
                <a:solidFill>
                  <a:srgbClr val="102B3F"/>
                </a:solidFill>
              </a:defRPr>
            </a:pPr>
            <a:r>
              <a:rPr sz="2025" b="0">
                <a:solidFill>
                  <a:srgbClr val="102B3F"/>
                </a:solidFill>
              </a:rPr>
              <a:t>Sign in and inspect live graph totals</a:t>
            </a:r>
          </a:p>
        </p:txBody>
      </p:sp>
      <p:sp>
        <p:nvSpPr>
          <p:cNvPr id="4" name="line-1">
            <a:extLst xmlns:a="http://schemas.openxmlformats.org/drawingml/2006/main">
              <a:ext uri="{FF2B5EF4-FFF2-40B4-BE49-F238E27FC236}">
                <a16:creationId xmlns:a16="http://schemas.microsoft.com/office/drawing/2014/main" id="{F0235DCC-988A-4AE3-ABB1-D52282C4036C}"/>
              </a:ext>
            </a:extLst>
          </p:cNvPr>
          <p:cNvSpPr>
            <a:spLocks xmlns:a="http://schemas.openxmlformats.org/drawingml/2006/main" noGrp="1"/>
          </p:cNvSpPr>
          <p:nvPr/>
        </p:nvSpPr>
        <p:spPr>
          <a:xfrm xmlns:a="http://schemas.openxmlformats.org/drawingml/2006/main">
            <a:off x="762000" y="2390775"/>
            <a:ext cx="10429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B3F"/>
                </a:solidFill>
              </a:defRPr>
            </a:defPPr>
          </a:lstStyle>
          <a:p xmlns:a="http://schemas.openxmlformats.org/drawingml/2006/main">
            <a:pPr>
              <a:defRPr sz="2025" b="0">
                <a:solidFill>
                  <a:srgbClr val="102B3F"/>
                </a:solidFill>
              </a:defRPr>
            </a:pPr>
            <a:r>
              <a:rPr sz="2025" b="0">
                <a:solidFill>
                  <a:srgbClr val="102B3F"/>
                </a:solidFill>
              </a:rPr>
              <a:t>Search APT28 and inspect source fields</a:t>
            </a:r>
          </a:p>
        </p:txBody>
      </p:sp>
      <p:sp>
        <p:nvSpPr>
          <p:cNvPr id="5" name="line-2">
            <a:extLst xmlns:a="http://schemas.openxmlformats.org/drawingml/2006/main">
              <a:ext uri="{FF2B5EF4-FFF2-40B4-BE49-F238E27FC236}">
                <a16:creationId xmlns:a16="http://schemas.microsoft.com/office/drawing/2014/main" id="{564A0F09-4C97-45FA-AC98-A0B5234B14E4}"/>
              </a:ext>
            </a:extLst>
          </p:cNvPr>
          <p:cNvSpPr>
            <a:spLocks xmlns:a="http://schemas.openxmlformats.org/drawingml/2006/main" noGrp="1"/>
          </p:cNvSpPr>
          <p:nvPr/>
        </p:nvSpPr>
        <p:spPr>
          <a:xfrm xmlns:a="http://schemas.openxmlformats.org/drawingml/2006/main">
            <a:off x="762000" y="3190875"/>
            <a:ext cx="10429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B3F"/>
                </a:solidFill>
              </a:defRPr>
            </a:defPPr>
          </a:lstStyle>
          <a:p xmlns:a="http://schemas.openxmlformats.org/drawingml/2006/main">
            <a:pPr>
              <a:defRPr sz="2025" b="0">
                <a:solidFill>
                  <a:srgbClr val="102B3F"/>
                </a:solidFill>
              </a:defRPr>
            </a:pPr>
            <a:r>
              <a:rPr sz="2025" b="0">
                <a:solidFill>
                  <a:srgbClr val="102B3F"/>
                </a:solidFill>
              </a:rPr>
              <a:t>Explore G0007 and its labelled connections</a:t>
            </a:r>
          </a:p>
        </p:txBody>
      </p:sp>
      <p:sp>
        <p:nvSpPr>
          <p:cNvPr id="6" name="line-3">
            <a:extLst xmlns:a="http://schemas.openxmlformats.org/drawingml/2006/main">
              <a:ext uri="{FF2B5EF4-FFF2-40B4-BE49-F238E27FC236}">
                <a16:creationId xmlns:a16="http://schemas.microsoft.com/office/drawing/2014/main" id="{CA99254E-1BF7-4600-883E-07B2F52FBD53}"/>
              </a:ext>
            </a:extLst>
          </p:cNvPr>
          <p:cNvSpPr>
            <a:spLocks xmlns:a="http://schemas.openxmlformats.org/drawingml/2006/main" noGrp="1"/>
          </p:cNvSpPr>
          <p:nvPr/>
        </p:nvSpPr>
        <p:spPr>
          <a:xfrm xmlns:a="http://schemas.openxmlformats.org/drawingml/2006/main">
            <a:off x="762000" y="3990975"/>
            <a:ext cx="10429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B3F"/>
                </a:solidFill>
              </a:defRPr>
            </a:defPPr>
          </a:lstStyle>
          <a:p xmlns:a="http://schemas.openxmlformats.org/drawingml/2006/main">
            <a:pPr>
              <a:defRPr sz="2025" b="0">
                <a:solidFill>
                  <a:srgbClr val="102B3F"/>
                </a:solidFill>
              </a:defRPr>
            </a:pPr>
            <a:r>
              <a:rPr sz="2025" b="0">
                <a:solidFill>
                  <a:srgbClr val="102B3F"/>
                </a:solidFill>
              </a:rPr>
              <a:t>Manage a disposable synthetic record</a:t>
            </a:r>
          </a:p>
        </p:txBody>
      </p:sp>
      <p:sp>
        <p:nvSpPr>
          <p:cNvPr id="7" name="line-4">
            <a:extLst xmlns:a="http://schemas.openxmlformats.org/drawingml/2006/main">
              <a:ext uri="{FF2B5EF4-FFF2-40B4-BE49-F238E27FC236}">
                <a16:creationId xmlns:a16="http://schemas.microsoft.com/office/drawing/2014/main" id="{81D40A38-782C-440F-89EC-43E0CD41147E}"/>
              </a:ext>
            </a:extLst>
          </p:cNvPr>
          <p:cNvSpPr>
            <a:spLocks xmlns:a="http://schemas.openxmlformats.org/drawingml/2006/main" noGrp="1"/>
          </p:cNvSpPr>
          <p:nvPr/>
        </p:nvSpPr>
        <p:spPr>
          <a:xfrm xmlns:a="http://schemas.openxmlformats.org/drawingml/2006/main">
            <a:off x="762000" y="4791075"/>
            <a:ext cx="10429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B3F"/>
                </a:solidFill>
              </a:defRPr>
            </a:defPPr>
          </a:lstStyle>
          <a:p xmlns:a="http://schemas.openxmlformats.org/drawingml/2006/main">
            <a:pPr>
              <a:defRPr sz="2025" b="0">
                <a:solidFill>
                  <a:srgbClr val="102B3F"/>
                </a:solidFill>
              </a:defRPr>
            </a:pPr>
            <a:r>
              <a:rPr sz="2025" b="0">
                <a:solidFill>
                  <a:srgbClr val="102B3F"/>
                </a:solidFill>
              </a:rPr>
              <a:t>Investigate an actor to domain chain</a:t>
            </a:r>
          </a:p>
        </p:txBody>
      </p:sp>
    </p:spTree>
    <p:extLst>
      <p:ext uri="{BB962C8B-B14F-4D97-AF65-F5344CB8AC3E}">
        <p14:creationId xmlns:p14="http://schemas.microsoft.com/office/powerpoint/2010/main" val="1169777865"/>
      </p:ext>
    </p:extLst>
  </p:cSld>
</p:sld>
</file>

<file path=ppt/slides/slide5.xml><?xml version="1.0" encoding="utf-8"?>
<p:sld xmlns:p="http://schemas.openxmlformats.org/presentationml/2006/main">
  <p:cSld>
    <p:bg>
      <p:bgPr>
        <a:solidFill xmlns:a="http://schemas.openxmlformats.org/drawingml/2006/main">
          <a:srgbClr val="F6FAFB"/>
        </a:solidFill>
      </p:bgPr>
    </p:bg>
    <p:spTree>
      <p:nvGrpSpPr>
        <p:cNvPr id="1" name=""/>
        <p:cNvGrpSpPr/>
        <p:nvPr/>
      </p:nvGrpSpPr>
      <p:grpSpPr>
        <a:xfrm xmlns:a="http://schemas.openxmlformats.org/drawingml/2006/main"/>
      </p:grpSpPr>
      <p:sp>
        <p:nvSpPr>
          <p:cNvPr id="7" name="title-5">
            <a:extLst xmlns:a="http://schemas.openxmlformats.org/drawingml/2006/main">
              <a:ext uri="{FF2B5EF4-FFF2-40B4-BE49-F238E27FC236}">
                <a16:creationId xmlns:a16="http://schemas.microsoft.com/office/drawing/2014/main" id="{812CD356-A497-475D-ABE8-CAF1149D295A}"/>
              </a:ext>
            </a:extLst>
          </p:cNvPr>
          <p:cNvSpPr>
            <a:spLocks xmlns:a="http://schemas.openxmlformats.org/drawingml/2006/main" noGrp="1"/>
          </p:cNvSpPr>
          <p:nvPr/>
        </p:nvSpPr>
        <p:spPr>
          <a:xfrm xmlns:a="http://schemas.openxmlformats.org/drawingml/2006/main">
            <a:off x="685800" y="514350"/>
            <a:ext cx="10572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02B3F"/>
                </a:solidFill>
              </a:defRPr>
            </a:defPPr>
          </a:lstStyle>
          <a:p xmlns:a="http://schemas.openxmlformats.org/drawingml/2006/main">
            <a:pPr>
              <a:defRPr sz="2925" b="1">
                <a:solidFill>
                  <a:srgbClr val="102B3F"/>
                </a:solidFill>
              </a:defRPr>
            </a:pPr>
            <a:r>
              <a:rPr sz="2925" b="1">
                <a:solidFill>
                  <a:srgbClr val="102B3F"/>
                </a:solidFill>
              </a:rPr>
              <a:t>Graph analytics</a:t>
            </a:r>
          </a:p>
        </p:txBody>
      </p:sp>
      <p:sp>
        <p:nvSpPr>
          <p:cNvPr id="2" name="footer-5">
            <a:extLst xmlns:a="http://schemas.openxmlformats.org/drawingml/2006/main">
              <a:ext uri="{FF2B5EF4-FFF2-40B4-BE49-F238E27FC236}">
                <a16:creationId xmlns:a16="http://schemas.microsoft.com/office/drawing/2014/main" id="{1BC00C4F-B1C6-4857-8216-152DC5D5FFC3}"/>
              </a:ext>
            </a:extLst>
          </p:cNvPr>
          <p:cNvSpPr>
            <a:spLocks xmlns:a="http://schemas.openxmlformats.org/drawingml/2006/main" noGrp="1"/>
          </p:cNvSpPr>
          <p:nvPr/>
        </p:nvSpPr>
        <p:spPr>
          <a:xfrm xmlns:a="http://schemas.openxmlformats.org/drawingml/2006/main">
            <a:off x="685800" y="6296025"/>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576"/>
                </a:solidFill>
              </a:defRPr>
            </a:defPPr>
          </a:lstStyle>
          <a:p xmlns:a="http://schemas.openxmlformats.org/drawingml/2006/main">
            <a:pPr>
              <a:defRPr sz="1125" b="0">
                <a:solidFill>
                  <a:srgbClr val="516576"/>
                </a:solidFill>
              </a:defRPr>
            </a:pPr>
            <a:r>
              <a:rPr sz="1125" b="0">
                <a:solidFill>
                  <a:srgbClr val="516576"/>
                </a:solidFill>
              </a:rPr>
              <a:t>CyberTrace  |  BCSE302P  |  5</a:t>
            </a:r>
          </a:p>
        </p:txBody>
      </p:sp>
      <p:sp>
        <p:nvSpPr>
          <p:cNvPr id="3" name="path-heading">
            <a:extLst xmlns:a="http://schemas.openxmlformats.org/drawingml/2006/main">
              <a:ext uri="{FF2B5EF4-FFF2-40B4-BE49-F238E27FC236}">
                <a16:creationId xmlns:a16="http://schemas.microsoft.com/office/drawing/2014/main" id="{18DC176B-F451-4D15-8AB4-9A56A404DC80}"/>
              </a:ext>
            </a:extLst>
          </p:cNvPr>
          <p:cNvSpPr>
            <a:spLocks xmlns:a="http://schemas.openxmlformats.org/drawingml/2006/main" noGrp="1"/>
          </p:cNvSpPr>
          <p:nvPr/>
        </p:nvSpPr>
        <p:spPr>
          <a:xfrm xmlns:a="http://schemas.openxmlformats.org/drawingml/2006/main">
            <a:off x="762000" y="167640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F87"/>
                </a:solidFill>
              </a:defRPr>
            </a:defPPr>
          </a:lstStyle>
          <a:p xmlns:a="http://schemas.openxmlformats.org/drawingml/2006/main">
            <a:pPr>
              <a:defRPr sz="2400" b="1">
                <a:solidFill>
                  <a:srgbClr val="087F87"/>
                </a:solidFill>
              </a:defRPr>
            </a:pPr>
            <a:r>
              <a:rPr sz="2400" b="1">
                <a:solidFill>
                  <a:srgbClr val="087F87"/>
                </a:solidFill>
              </a:rPr>
              <a:t>Shortest path</a:t>
            </a:r>
          </a:p>
        </p:txBody>
      </p:sp>
      <p:sp>
        <p:nvSpPr>
          <p:cNvPr id="4" name="path-copy">
            <a:extLst xmlns:a="http://schemas.openxmlformats.org/drawingml/2006/main">
              <a:ext uri="{FF2B5EF4-FFF2-40B4-BE49-F238E27FC236}">
                <a16:creationId xmlns:a16="http://schemas.microsoft.com/office/drawing/2014/main" id="{3F0E24C0-A56C-4F3E-889C-F93885309306}"/>
              </a:ext>
            </a:extLst>
          </p:cNvPr>
          <p:cNvSpPr>
            <a:spLocks xmlns:a="http://schemas.openxmlformats.org/drawingml/2006/main" noGrp="1"/>
          </p:cNvSpPr>
          <p:nvPr/>
        </p:nvSpPr>
        <p:spPr>
          <a:xfrm xmlns:a="http://schemas.openxmlformats.org/drawingml/2006/main">
            <a:off x="762000" y="2352675"/>
            <a:ext cx="481012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B3F"/>
                </a:solidFill>
              </a:defRPr>
            </a:defPPr>
          </a:lstStyle>
          <a:p xmlns:a="http://schemas.openxmlformats.org/drawingml/2006/main">
            <a:pPr>
              <a:defRPr sz="2025" b="0">
                <a:solidFill>
                  <a:srgbClr val="102B3F"/>
                </a:solidFill>
              </a:defRPr>
            </a:pPr>
            <a:r>
              <a:rPr sz="2025" b="0">
                <a:solidFill>
                  <a:srgbClr val="102B3F"/>
                </a:solidFill>
              </a:rPr>
              <a:t>Up to 6 hops</a:t>
            </a:r>
          </a:p>
          <a:p xmlns:a="http://schemas.openxmlformats.org/drawingml/2006/main">
            <a:pPr>
              <a:defRPr sz="2025" b="0">
                <a:solidFill>
                  <a:srgbClr val="102B3F"/>
                </a:solidFill>
              </a:defRPr>
            </a:pPr>
            <a:r>
              <a:rPr sz="2025" b="0">
                <a:solidFill>
                  <a:srgbClr val="102B3F"/>
                </a:solidFill>
              </a:rPr>
              <a:t>Missing endpoint differs from no path</a:t>
            </a:r>
          </a:p>
          <a:p xmlns:a="http://schemas.openxmlformats.org/drawingml/2006/main">
            <a:pPr>
              <a:defRPr sz="2025" b="0">
                <a:solidFill>
                  <a:srgbClr val="102B3F"/>
                </a:solidFill>
              </a:defRPr>
            </a:pPr>
            <a:r>
              <a:rPr sz="2025" b="0">
                <a:solidFill>
                  <a:srgbClr val="102B3F"/>
                </a:solidFill>
              </a:rPr>
              <a:t>Every step carries provenance</a:t>
            </a:r>
          </a:p>
        </p:txBody>
      </p:sp>
      <p:sp>
        <p:nvSpPr>
          <p:cNvPr id="5" name="rank-heading">
            <a:extLst xmlns:a="http://schemas.openxmlformats.org/drawingml/2006/main">
              <a:ext uri="{FF2B5EF4-FFF2-40B4-BE49-F238E27FC236}">
                <a16:creationId xmlns:a16="http://schemas.microsoft.com/office/drawing/2014/main" id="{880A39B6-11E4-41DB-8698-D831993ED6F3}"/>
              </a:ext>
            </a:extLst>
          </p:cNvPr>
          <p:cNvSpPr>
            <a:spLocks xmlns:a="http://schemas.openxmlformats.org/drawingml/2006/main" noGrp="1"/>
          </p:cNvSpPr>
          <p:nvPr/>
        </p:nvSpPr>
        <p:spPr>
          <a:xfrm xmlns:a="http://schemas.openxmlformats.org/drawingml/2006/main">
            <a:off x="6381750" y="1676400"/>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F87"/>
                </a:solidFill>
              </a:defRPr>
            </a:defPPr>
          </a:lstStyle>
          <a:p xmlns:a="http://schemas.openxmlformats.org/drawingml/2006/main">
            <a:pPr>
              <a:defRPr sz="2400" b="1">
                <a:solidFill>
                  <a:srgbClr val="087F87"/>
                </a:solidFill>
              </a:defRPr>
            </a:pPr>
            <a:r>
              <a:rPr sz="2400" b="1">
                <a:solidFill>
                  <a:srgbClr val="087F87"/>
                </a:solidFill>
              </a:rPr>
              <a:t>PageRank</a:t>
            </a:r>
          </a:p>
        </p:txBody>
      </p:sp>
      <p:sp>
        <p:nvSpPr>
          <p:cNvPr id="6" name="rank-copy">
            <a:extLst xmlns:a="http://schemas.openxmlformats.org/drawingml/2006/main">
              <a:ext uri="{FF2B5EF4-FFF2-40B4-BE49-F238E27FC236}">
                <a16:creationId xmlns:a16="http://schemas.microsoft.com/office/drawing/2014/main" id="{78268A53-61CF-4208-9C5F-072113F9B615}"/>
              </a:ext>
            </a:extLst>
          </p:cNvPr>
          <p:cNvSpPr>
            <a:spLocks xmlns:a="http://schemas.openxmlformats.org/drawingml/2006/main" noGrp="1"/>
          </p:cNvSpPr>
          <p:nvPr/>
        </p:nvSpPr>
        <p:spPr>
          <a:xfrm xmlns:a="http://schemas.openxmlformats.org/drawingml/2006/main">
            <a:off x="6381750" y="2352675"/>
            <a:ext cx="4857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02B3F"/>
                </a:solidFill>
              </a:defRPr>
            </a:defPPr>
          </a:lstStyle>
          <a:p xmlns:a="http://schemas.openxmlformats.org/drawingml/2006/main">
            <a:pPr>
              <a:defRPr sz="2025" b="0">
                <a:solidFill>
                  <a:srgbClr val="102B3F"/>
                </a:solidFill>
              </a:defRPr>
            </a:pPr>
            <a:r>
              <a:rPr sz="2025" b="0">
                <a:solidFill>
                  <a:srgbClr val="102B3F"/>
                </a:solidFill>
              </a:rPr>
              <a:t>Directed rank flow</a:t>
            </a:r>
          </a:p>
          <a:p xmlns:a="http://schemas.openxmlformats.org/drawingml/2006/main">
            <a:pPr>
              <a:defRPr sz="2025" b="0">
                <a:solidFill>
                  <a:srgbClr val="102B3F"/>
                </a:solidFill>
              </a:defRPr>
            </a:pPr>
            <a:r>
              <a:rPr sz="2025" b="0">
                <a:solidFill>
                  <a:srgbClr val="102B3F"/>
                </a:solidFill>
              </a:rPr>
              <a:t>Real-only or all-data scope</a:t>
            </a:r>
          </a:p>
          <a:p xmlns:a="http://schemas.openxmlformats.org/drawingml/2006/main">
            <a:pPr>
              <a:defRPr sz="2025" b="0">
                <a:solidFill>
                  <a:srgbClr val="102B3F"/>
                </a:solidFill>
              </a:defRPr>
            </a:pPr>
            <a:r>
              <a:rPr sz="2025" b="0">
                <a:solidFill>
                  <a:srgbClr val="102B3F"/>
                </a:solidFill>
              </a:rPr>
              <a:t>Prominence is not threat severity</a:t>
            </a:r>
          </a:p>
        </p:txBody>
      </p:sp>
    </p:spTree>
    <p:extLst>
      <p:ext uri="{BB962C8B-B14F-4D97-AF65-F5344CB8AC3E}">
        <p14:creationId xmlns:p14="http://schemas.microsoft.com/office/powerpoint/2010/main" val="255228803"/>
      </p:ext>
    </p:extLst>
  </p:cSld>
</p:sld>
</file>

<file path=ppt/slides/slide6.xml><?xml version="1.0" encoding="utf-8"?>
<p:sld xmlns:p="http://schemas.openxmlformats.org/presentationml/2006/main">
  <p:cSld>
    <p:bg>
      <p:bgPr>
        <a:solidFill xmlns:a="http://schemas.openxmlformats.org/drawingml/2006/main">
          <a:srgbClr val="F6FAFB"/>
        </a:solidFill>
      </p:bgPr>
    </p:bg>
    <p:spTree>
      <p:nvGrpSpPr>
        <p:cNvPr id="1" name=""/>
        <p:cNvGrpSpPr/>
        <p:nvPr/>
      </p:nvGrpSpPr>
      <p:grpSpPr>
        <a:xfrm xmlns:a="http://schemas.openxmlformats.org/drawingml/2006/main"/>
      </p:grpSpPr>
      <p:sp>
        <p:nvSpPr>
          <p:cNvPr id="7" name="title-6">
            <a:extLst xmlns:a="http://schemas.openxmlformats.org/drawingml/2006/main">
              <a:ext uri="{FF2B5EF4-FFF2-40B4-BE49-F238E27FC236}">
                <a16:creationId xmlns:a16="http://schemas.microsoft.com/office/drawing/2014/main" id="{4E937C0F-4553-41D0-92F5-D7EA9CE1A1D3}"/>
              </a:ext>
            </a:extLst>
          </p:cNvPr>
          <p:cNvSpPr>
            <a:spLocks xmlns:a="http://schemas.openxmlformats.org/drawingml/2006/main" noGrp="1"/>
          </p:cNvSpPr>
          <p:nvPr/>
        </p:nvSpPr>
        <p:spPr>
          <a:xfrm xmlns:a="http://schemas.openxmlformats.org/drawingml/2006/main">
            <a:off x="685800" y="514350"/>
            <a:ext cx="10572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02B3F"/>
                </a:solidFill>
              </a:defRPr>
            </a:defPPr>
          </a:lstStyle>
          <a:p xmlns:a="http://schemas.openxmlformats.org/drawingml/2006/main">
            <a:pPr>
              <a:defRPr sz="2925" b="1">
                <a:solidFill>
                  <a:srgbClr val="102B3F"/>
                </a:solidFill>
              </a:defRPr>
            </a:pPr>
            <a:r>
              <a:rPr sz="2925" b="1">
                <a:solidFill>
                  <a:srgbClr val="102B3F"/>
                </a:solidFill>
              </a:rPr>
              <a:t>Verification and limits</a:t>
            </a:r>
          </a:p>
        </p:txBody>
      </p:sp>
      <p:sp>
        <p:nvSpPr>
          <p:cNvPr id="2" name="footer-6">
            <a:extLst xmlns:a="http://schemas.openxmlformats.org/drawingml/2006/main">
              <a:ext uri="{FF2B5EF4-FFF2-40B4-BE49-F238E27FC236}">
                <a16:creationId xmlns:a16="http://schemas.microsoft.com/office/drawing/2014/main" id="{80E46B34-431C-4F8C-B536-A1CBEBA53D30}"/>
              </a:ext>
            </a:extLst>
          </p:cNvPr>
          <p:cNvSpPr>
            <a:spLocks xmlns:a="http://schemas.openxmlformats.org/drawingml/2006/main" noGrp="1"/>
          </p:cNvSpPr>
          <p:nvPr/>
        </p:nvSpPr>
        <p:spPr>
          <a:xfrm xmlns:a="http://schemas.openxmlformats.org/drawingml/2006/main">
            <a:off x="685800" y="6296025"/>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16576"/>
                </a:solidFill>
              </a:defRPr>
            </a:defPPr>
          </a:lstStyle>
          <a:p xmlns:a="http://schemas.openxmlformats.org/drawingml/2006/main">
            <a:pPr>
              <a:defRPr sz="1125" b="0">
                <a:solidFill>
                  <a:srgbClr val="516576"/>
                </a:solidFill>
              </a:defRPr>
            </a:pPr>
            <a:r>
              <a:rPr sz="1125" b="0">
                <a:solidFill>
                  <a:srgbClr val="516576"/>
                </a:solidFill>
              </a:rPr>
              <a:t>CyberTrace  |  BCSE302P  |  6</a:t>
            </a:r>
          </a:p>
        </p:txBody>
      </p:sp>
      <p:sp>
        <p:nvSpPr>
          <p:cNvPr id="3" name="evidence">
            <a:extLst xmlns:a="http://schemas.openxmlformats.org/drawingml/2006/main">
              <a:ext uri="{FF2B5EF4-FFF2-40B4-BE49-F238E27FC236}">
                <a16:creationId xmlns:a16="http://schemas.microsoft.com/office/drawing/2014/main" id="{BC4E8025-0CC1-481C-B182-A645486BAB6F}"/>
              </a:ext>
            </a:extLst>
          </p:cNvPr>
          <p:cNvSpPr>
            <a:spLocks xmlns:a="http://schemas.openxmlformats.org/drawingml/2006/main" noGrp="1"/>
          </p:cNvSpPr>
          <p:nvPr/>
        </p:nvSpPr>
        <p:spPr>
          <a:xfrm xmlns:a="http://schemas.openxmlformats.org/drawingml/2006/main">
            <a:off x="762000" y="1590675"/>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087F87"/>
                </a:solidFill>
              </a:defRPr>
            </a:defPPr>
          </a:lstStyle>
          <a:p xmlns:a="http://schemas.openxmlformats.org/drawingml/2006/main">
            <a:pPr>
              <a:defRPr sz="3300" b="1">
                <a:solidFill>
                  <a:srgbClr val="087F87"/>
                </a:solidFill>
              </a:defRPr>
            </a:pPr>
            <a:r>
              <a:rPr sz="3300" b="1">
                <a:solidFill>
                  <a:srgbClr val="087F87"/>
                </a:solidFill>
              </a:rPr>
              <a:t>27 tests passed</a:t>
            </a:r>
          </a:p>
        </p:txBody>
      </p:sp>
      <p:sp>
        <p:nvSpPr>
          <p:cNvPr id="4" name="metrics">
            <a:extLst xmlns:a="http://schemas.openxmlformats.org/drawingml/2006/main">
              <a:ext uri="{FF2B5EF4-FFF2-40B4-BE49-F238E27FC236}">
                <a16:creationId xmlns:a16="http://schemas.microsoft.com/office/drawing/2014/main" id="{23B218BD-7DDE-40AC-B078-05EC46149CF8}"/>
              </a:ext>
            </a:extLst>
          </p:cNvPr>
          <p:cNvSpPr>
            <a:spLocks xmlns:a="http://schemas.openxmlformats.org/drawingml/2006/main" noGrp="1"/>
          </p:cNvSpPr>
          <p:nvPr/>
        </p:nvSpPr>
        <p:spPr>
          <a:xfrm xmlns:a="http://schemas.openxmlformats.org/drawingml/2006/main">
            <a:off x="762000" y="2571750"/>
            <a:ext cx="10572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02B3F"/>
                </a:solidFill>
              </a:defRPr>
            </a:defPPr>
          </a:lstStyle>
          <a:p xmlns:a="http://schemas.openxmlformats.org/drawingml/2006/main">
            <a:pPr>
              <a:defRPr sz="2325" b="0">
                <a:solidFill>
                  <a:srgbClr val="102B3F"/>
                </a:solidFill>
              </a:defRPr>
            </a:pPr>
            <a:r>
              <a:rPr sz="2325" b="0">
                <a:solidFill>
                  <a:srgbClr val="102B3F"/>
                </a:solidFill>
              </a:rPr>
              <a:t>159 nodes  |  1,116 relationships  |  10 investigations</a:t>
            </a:r>
          </a:p>
        </p:txBody>
      </p:sp>
      <p:sp>
        <p:nvSpPr>
          <p:cNvPr id="5" name="limits-heading">
            <a:extLst xmlns:a="http://schemas.openxmlformats.org/drawingml/2006/main">
              <a:ext uri="{FF2B5EF4-FFF2-40B4-BE49-F238E27FC236}">
                <a16:creationId xmlns:a16="http://schemas.microsoft.com/office/drawing/2014/main" id="{457780D6-D6CC-4A46-ABB4-1BC2417C7655}"/>
              </a:ext>
            </a:extLst>
          </p:cNvPr>
          <p:cNvSpPr>
            <a:spLocks xmlns:a="http://schemas.openxmlformats.org/drawingml/2006/main" noGrp="1"/>
          </p:cNvSpPr>
          <p:nvPr/>
        </p:nvSpPr>
        <p:spPr>
          <a:xfrm xmlns:a="http://schemas.openxmlformats.org/drawingml/2006/main">
            <a:off x="762000" y="4067175"/>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02B3F"/>
                </a:solidFill>
              </a:defRPr>
            </a:defPPr>
          </a:lstStyle>
          <a:p xmlns:a="http://schemas.openxmlformats.org/drawingml/2006/main">
            <a:pPr>
              <a:defRPr sz="2175" b="1">
                <a:solidFill>
                  <a:srgbClr val="102B3F"/>
                </a:solidFill>
              </a:defRPr>
            </a:pPr>
            <a:r>
              <a:rPr sz="2175" b="1">
                <a:solidFill>
                  <a:srgbClr val="102B3F"/>
                </a:solidFill>
              </a:rPr>
              <a:t>Interpretation limits</a:t>
            </a:r>
          </a:p>
        </p:txBody>
      </p:sp>
      <p:sp>
        <p:nvSpPr>
          <p:cNvPr id="6" name="limits">
            <a:extLst xmlns:a="http://schemas.openxmlformats.org/drawingml/2006/main">
              <a:ext uri="{FF2B5EF4-FFF2-40B4-BE49-F238E27FC236}">
                <a16:creationId xmlns:a16="http://schemas.microsoft.com/office/drawing/2014/main" id="{E6233F2E-132B-42D8-91EA-A3EEBA7809C0}"/>
              </a:ext>
            </a:extLst>
          </p:cNvPr>
          <p:cNvSpPr>
            <a:spLocks xmlns:a="http://schemas.openxmlformats.org/drawingml/2006/main" noGrp="1"/>
          </p:cNvSpPr>
          <p:nvPr/>
        </p:nvSpPr>
        <p:spPr>
          <a:xfrm xmlns:a="http://schemas.openxmlformats.org/drawingml/2006/main">
            <a:off x="762000" y="4686300"/>
            <a:ext cx="1057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516576"/>
                </a:solidFill>
              </a:defRPr>
            </a:defPPr>
          </a:lstStyle>
          <a:p xmlns:a="http://schemas.openxmlformats.org/drawingml/2006/main">
            <a:pPr>
              <a:defRPr sz="1875" b="0">
                <a:solidFill>
                  <a:srgbClr val="516576"/>
                </a:solidFill>
              </a:defRPr>
            </a:pPr>
            <a:r>
              <a:rPr sz="1875" b="0">
                <a:solidFill>
                  <a:srgbClr val="516576"/>
                </a:solidFill>
              </a:rPr>
              <a:t>Selected ATT&amp;CK subset; synthetic scenarios; local lab security model</a:t>
            </a:r>
          </a:p>
        </p:txBody>
      </p:sp>
    </p:spTree>
    <p:extLst>
      <p:ext uri="{BB962C8B-B14F-4D97-AF65-F5344CB8AC3E}">
        <p14:creationId xmlns:p14="http://schemas.microsoft.com/office/powerpoint/2010/main" val="1362374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2026-10-11T10:56:13.9640000Z</dcterms:created>
  <dcterms:modified xsi:type="dcterms:W3CDTF">2026-10-11T10:56:13.9640000Z</dcterms:modified>
</coreProperties>
</file>